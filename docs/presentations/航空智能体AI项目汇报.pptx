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5486400"/>
            <a:ext cx="384048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7589520" y="4846320"/>
            <a:ext cx="329184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321040" y="4206240"/>
            <a:ext cx="274320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052560" y="3566160"/>
            <a:ext cx="219456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784080" y="2926080"/>
            <a:ext cx="164592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868680" cy="868680"/>
          </a:xfrm>
          <a:prstGeom prst="ellipse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459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15087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AGENTIC AI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606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航空智能体 AI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822960" y="3703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私人飞行员的应急决策支持助手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822960" y="4526280"/>
            <a:ext cx="54864" cy="82296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45262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本体  ·  知识图谱  ·  Hybrid-RAG  ·  Agentic AI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在飞行员最需要的瞬间，给出有依据、可执行的下一步。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2960" y="5943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汇报人：xy   ·   2026 年 4 月 28 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10789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54480"/>
            <a:ext cx="91440" cy="201168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10241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面向私人飞行员的 </a:t>
            </a:r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决策支持助手</a:t>
            </a:r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在异常或紧急飞行情境下，</a:t>
            </a:r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实时提供有依据、按步骤的操作指引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85800" y="4023360"/>
            <a:ext cx="3611880" cy="233172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023360"/>
            <a:ext cx="3611880" cy="7315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4343400"/>
            <a:ext cx="640080" cy="640080"/>
          </a:xfrm>
          <a:prstGeom prst="ellipse">
            <a:avLst/>
          </a:prstGeom>
          <a:solidFill>
            <a:srgbClr val="205295"/>
          </a:solidFill>
          <a:ln w="12700">
            <a:solidFill>
              <a:srgbClr val="205295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4805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0120" y="5120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决策支持，不是替代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60120" y="5623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保留飞行员的最终控制权与判断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03420" y="4023360"/>
            <a:ext cx="3611880" cy="233172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03420" y="4023360"/>
            <a:ext cx="3611880" cy="7315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23460" y="4343400"/>
            <a:ext cx="640080" cy="640080"/>
          </a:xfrm>
          <a:prstGeom prst="ellipse">
            <a:avLst/>
          </a:prstGeom>
          <a:solidFill>
            <a:srgbClr val="205295"/>
          </a:solidFill>
          <a:ln w="12700">
            <a:solidFill>
              <a:srgbClr val="205295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448056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77740" y="5120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降低应急认知负荷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777740" y="5623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压力下也能找到正确步骤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321040" y="4023360"/>
            <a:ext cx="3611880" cy="233172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21040" y="4023360"/>
            <a:ext cx="3611880" cy="7315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641080" y="4343400"/>
            <a:ext cx="640080" cy="640080"/>
          </a:xfrm>
          <a:prstGeom prst="ellipse">
            <a:avLst/>
          </a:prstGeom>
          <a:solidFill>
            <a:srgbClr val="205295"/>
          </a:solidFill>
          <a:ln w="12700">
            <a:solidFill>
              <a:srgbClr val="205295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48056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595360" y="5120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回答可追溯到手册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595360" y="5623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 + 手册，杜绝胡编乱造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航空智能体 AI · 项目汇报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为什么私人飞行员需要这样的助手？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私人飞行员普遍存在 4 类典型痛点 —— 它们叠加在一起，会让本可避免的事故变成真实风险。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532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874520"/>
            <a:ext cx="73152" cy="2103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240280"/>
            <a:ext cx="777240" cy="77724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414016"/>
            <a:ext cx="429768" cy="4297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11680" y="2240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飞行频率低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011680" y="274320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私人飞行员飞行小时数少，技能与流程容易生疏。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55080" y="1874520"/>
            <a:ext cx="5532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55080" y="1874520"/>
            <a:ext cx="73152" cy="2103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20840" y="2240280"/>
            <a:ext cx="777240" cy="77724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76" y="2414016"/>
            <a:ext cx="429768" cy="4297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80960" y="2240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应急程序少见且复杂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680960" y="274320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罕见故障的处置步骤平时几乎用不到，关键时刻想不起来。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85800" y="4160520"/>
            <a:ext cx="5532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5800" y="4160520"/>
            <a:ext cx="73152" cy="2103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51560" y="4526280"/>
            <a:ext cx="777240" cy="77724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4700016"/>
            <a:ext cx="429768" cy="4297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011680" y="4526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压力下难以查阅手册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2011680" y="502920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纸质手册或厚厚的 POH 在驾驶舱里翻不过来，时间不允许。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355080" y="4160520"/>
            <a:ext cx="5532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355080" y="4160520"/>
            <a:ext cx="73152" cy="2103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720840" y="4526280"/>
            <a:ext cx="777240" cy="77724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4700016"/>
            <a:ext cx="429768" cy="4297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680960" y="4526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风险判断容易失真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7680960" y="502920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天气、油量、机械异常变化快，疲劳与紧张会进一步放大误判。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航空智能体 AI · 项目汇报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&amp;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项目目标：助手，而不是代替飞行员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5532120" cy="4206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5532120" cy="7315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659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我们做的是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决策支持助手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在异常 / 紧急情境下识别飞行情况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从手册和知识图谱中检索对应程序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用简短、有依据的语言一步步引导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始终把最终判断权留给飞行员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5321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691640"/>
            <a:ext cx="5532120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9659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我们刻意不做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3317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自动驾驶 / 替代飞行员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675120" y="2971800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不直接控制飞机或操纵舵面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不替代 ATC、教员或机务的角色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不输出脱离手册依据的建议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○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不在没有信心时强行给出答案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6080760"/>
            <a:ext cx="1101852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60807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一句话定位：让经验少的飞行员，在压力大的时刻，也能像有经验的副驾在身边一样冷静处置。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航空智能体 AI · 项目汇报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系统架构：从手册到驾驶舱的四层结构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1417320" cy="960120"/>
          </a:xfrm>
          <a:prstGeom prst="rect">
            <a:avLst/>
          </a:prstGeom>
          <a:solidFill>
            <a:srgbClr val="205295"/>
          </a:solidFill>
          <a:ln w="12700">
            <a:solidFill>
              <a:srgbClr val="2052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输入层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94560" y="1600200"/>
            <a:ext cx="6492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1764792"/>
            <a:ext cx="640080" cy="64008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8024" y="191109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10896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知识来源 Knowledge Sources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108960" y="2103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手册、机型 POH、检查单、SOP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40680" y="2560320"/>
            <a:ext cx="0" cy="91440"/>
          </a:xfrm>
          <a:prstGeom prst="line">
            <a:avLst/>
          </a:prstGeom>
          <a:noFill/>
          <a:ln w="25400">
            <a:solidFill>
              <a:srgbClr val="F583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2651760"/>
            <a:ext cx="1417320" cy="960120"/>
          </a:xfrm>
          <a:prstGeom prst="rect">
            <a:avLst/>
          </a:prstGeom>
          <a:solidFill>
            <a:srgbClr val="205295"/>
          </a:solidFill>
          <a:ln w="12700">
            <a:solidFill>
              <a:srgbClr val="20529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265176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知识层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194560" y="2651760"/>
            <a:ext cx="6492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31720" y="2816352"/>
            <a:ext cx="640080" cy="64008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024" y="2962656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108960" y="2743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本体 + 知识图谱 Ontology &amp; KG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3108960" y="3154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结构化的领域知识，可推理、可追溯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40680" y="3611880"/>
            <a:ext cx="0" cy="91440"/>
          </a:xfrm>
          <a:prstGeom prst="line">
            <a:avLst/>
          </a:prstGeom>
          <a:noFill/>
          <a:ln w="25400">
            <a:solidFill>
              <a:srgbClr val="F583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85800" y="3703320"/>
            <a:ext cx="1417320" cy="960120"/>
          </a:xfrm>
          <a:prstGeom prst="rect">
            <a:avLst/>
          </a:prstGeom>
          <a:solidFill>
            <a:srgbClr val="205295"/>
          </a:solidFill>
          <a:ln w="12700">
            <a:solidFill>
              <a:srgbClr val="20529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85800" y="370332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感知层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2194560" y="3703320"/>
            <a:ext cx="6492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331720" y="3867912"/>
            <a:ext cx="640080" cy="64008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024" y="4014216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108960" y="3794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实时飞行情境 Live Context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3108960" y="4206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传感器、姿态、油量、天气、位置等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440680" y="4663440"/>
            <a:ext cx="0" cy="91440"/>
          </a:xfrm>
          <a:prstGeom prst="line">
            <a:avLst/>
          </a:prstGeom>
          <a:noFill/>
          <a:ln w="25400">
            <a:solidFill>
              <a:srgbClr val="F5830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85800" y="4754880"/>
            <a:ext cx="1417320" cy="960120"/>
          </a:xfrm>
          <a:prstGeom prst="rect">
            <a:avLst/>
          </a:prstGeom>
          <a:solidFill>
            <a:srgbClr val="205295"/>
          </a:solidFill>
          <a:ln w="12700">
            <a:solidFill>
              <a:srgbClr val="20529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85800" y="475488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编排层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2194560" y="4754880"/>
            <a:ext cx="6492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2331720" y="4919472"/>
            <a:ext cx="640080" cy="64008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024" y="5065776"/>
            <a:ext cx="347472" cy="34747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108960" y="4846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编排器</a:t>
            </a:r>
            <a:endParaRPr lang="en-US" sz="1700" dirty="0"/>
          </a:p>
        </p:txBody>
      </p:sp>
      <p:sp>
        <p:nvSpPr>
          <p:cNvPr id="35" name="Text 29"/>
          <p:cNvSpPr/>
          <p:nvPr/>
        </p:nvSpPr>
        <p:spPr>
          <a:xfrm>
            <a:off x="3108960" y="5257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识别情景 → 选模块 → 检索 → 解释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9006840" y="1600200"/>
            <a:ext cx="2697480" cy="41148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006840" y="1600200"/>
            <a:ext cx="2697480" cy="7315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918972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 OUTPUT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918972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给飞行员的步骤化指引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9189720" y="269748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短：一次只说一步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稳：与手册一致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懂情境：看当前飞行状态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可解释：能给出依据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航空智能体 AI · 项目汇报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核心组件详解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91640"/>
            <a:ext cx="73152" cy="2194560"/>
          </a:xfrm>
          <a:prstGeom prst="rect">
            <a:avLst/>
          </a:prstGeom>
          <a:solidFill>
            <a:srgbClr val="205295"/>
          </a:solidFill>
          <a:ln w="12700">
            <a:solidFill>
              <a:srgbClr val="20529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011680"/>
            <a:ext cx="777240" cy="77724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185416"/>
            <a:ext cx="429768" cy="4297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19659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知识来源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965960" y="24688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权威手册、检查单与 SOP，作为系统的事实根基。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965960" y="33832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Handbook · POH · Checklist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55080" y="169164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55080" y="1691640"/>
            <a:ext cx="73152" cy="2194560"/>
          </a:xfrm>
          <a:prstGeom prst="rect">
            <a:avLst/>
          </a:prstGeom>
          <a:solidFill>
            <a:srgbClr val="205295"/>
          </a:solidFill>
          <a:ln w="12700">
            <a:solidFill>
              <a:srgbClr val="20529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75120" y="2011680"/>
            <a:ext cx="777240" cy="77724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2185416"/>
            <a:ext cx="429768" cy="4297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35240" y="19659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本体 + 知识图谱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635240" y="24688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把手册中的程序、症状、动作、条件结构化，便于推理。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635240" y="33832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· KG · Inference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85800" y="40690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85800" y="4069080"/>
            <a:ext cx="73152" cy="2194560"/>
          </a:xfrm>
          <a:prstGeom prst="rect">
            <a:avLst/>
          </a:prstGeom>
          <a:solidFill>
            <a:srgbClr val="205295"/>
          </a:solidFill>
          <a:ln w="12700">
            <a:solidFill>
              <a:srgbClr val="20529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05840" y="4389120"/>
            <a:ext cx="777240" cy="77724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4562856"/>
            <a:ext cx="429768" cy="4297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65960" y="4343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实时飞行情境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1965960" y="484632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高度、姿态、引擎参数、油量、天气、阶段，构成情境上下文。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965960" y="57607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· Phase · Weather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355080" y="40690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355080" y="4069080"/>
            <a:ext cx="73152" cy="2194560"/>
          </a:xfrm>
          <a:prstGeom prst="rect">
            <a:avLst/>
          </a:prstGeom>
          <a:solidFill>
            <a:srgbClr val="205295"/>
          </a:solidFill>
          <a:ln w="12700">
            <a:solidFill>
              <a:srgbClr val="20529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675120" y="4389120"/>
            <a:ext cx="777240" cy="77724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4562856"/>
            <a:ext cx="429768" cy="4297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635240" y="4343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编排器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7635240" y="484632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识别异常 → 定位场景 → 选模块 → 检索程序 → 解释步骤。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635240" y="57607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· Plan · Retrieve · Explain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航空智能体 AI · 项目汇报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工作流程：5 步从感知到指引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2103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74520"/>
            <a:ext cx="2103120" cy="777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74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感知情境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读取传感器与飞行阶段，识别异常征兆。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3246120"/>
            <a:ext cx="182880" cy="182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971800" y="1874520"/>
            <a:ext cx="2103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1800" y="1874520"/>
            <a:ext cx="2103120" cy="777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71800" y="1874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315468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定位场景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154680" y="338328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对照本体中的故障与紧急情景模板。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246120"/>
            <a:ext cx="182880" cy="1828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257800" y="1874520"/>
            <a:ext cx="2103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257800" y="1874520"/>
            <a:ext cx="2103120" cy="777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57800" y="1874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544068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选取模块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5440680" y="338328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在知识图谱中选择对应的程序与依赖项。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3246120"/>
            <a:ext cx="182880" cy="1828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543800" y="1874520"/>
            <a:ext cx="2103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543800" y="1874520"/>
            <a:ext cx="2103120" cy="777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543800" y="1874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772668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检索程序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7726680" y="338328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Hybrid-RAG 在 KG + 向量库中找到具体步骤。</a:t>
            </a:r>
            <a:endParaRPr lang="en-US" sz="1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3246120"/>
            <a:ext cx="182880" cy="18288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829800" y="1874520"/>
            <a:ext cx="2103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829800" y="1874520"/>
            <a:ext cx="2103120" cy="777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829800" y="1874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32" name="Text 26"/>
          <p:cNvSpPr/>
          <p:nvPr/>
        </p:nvSpPr>
        <p:spPr>
          <a:xfrm>
            <a:off x="1001268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解释执行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10012680" y="338328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用简短、可执行的话术按顺序提示飞行员。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85800" y="5166360"/>
            <a:ext cx="10789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85800" y="5166360"/>
            <a:ext cx="91440" cy="128016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96012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关键设计点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960120" y="55778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每一步都能给出依据：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回答可追溯到具体手册章节，避免大模型自由发挥；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情境优先：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在不同飞行阶段（起飞 / 巡航 / 进近），相同症状给出的优先级不同。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航空智能体 AI · 项目汇报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案例：EFATO（起飞后引擎失效）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4206240" cy="484632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4206240" cy="7315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874520"/>
            <a:ext cx="731520" cy="731520"/>
          </a:xfrm>
          <a:prstGeom prst="ellipse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116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场景描述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2880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Failure After Takeoff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27889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高度：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300 ft AGL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阶段：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刚离地 / 初始爬升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症状：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骤降、推力损失、机头下沉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约束：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高度低、时间窗 &lt; 10 秒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在数秒内引导飞行员完成关键步骤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16636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建议（按手册）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66360" y="1874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 POH · 紧急程序 · 单发活塞机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166360" y="2240280"/>
            <a:ext cx="6492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49240" y="2404872"/>
            <a:ext cx="457200" cy="457200"/>
          </a:xfrm>
          <a:prstGeom prst="ellipse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492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4360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保持飞行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72400" y="2331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for best glide，先飞机，再处置。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26680" y="2423160"/>
            <a:ext cx="0" cy="41148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66360" y="3063240"/>
            <a:ext cx="6492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49240" y="3227832"/>
            <a:ext cx="457200" cy="457200"/>
          </a:xfrm>
          <a:prstGeom prst="ellipse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492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选迫降区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772400" y="3154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正前方 ±30°，避开人群与建筑。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726680" y="3246120"/>
            <a:ext cx="0" cy="41148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66360" y="3886200"/>
            <a:ext cx="6492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49240" y="4050792"/>
            <a:ext cx="457200" cy="457200"/>
          </a:xfrm>
          <a:prstGeom prst="ellipse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4924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94360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尝试快速重启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772400" y="39776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燃油泵 ON / 混合比 RICH / 磁电机 BOTH。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726680" y="4069080"/>
            <a:ext cx="0" cy="41148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166360" y="4709160"/>
            <a:ext cx="6492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349240" y="4873752"/>
            <a:ext cx="457200" cy="457200"/>
          </a:xfrm>
          <a:prstGeom prst="ellipse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4924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94360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通讯求救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772400" y="4800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MAYDAY × 3 + 位置 + 意图，121.5 备用。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726680" y="4892040"/>
            <a:ext cx="0" cy="41148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166360" y="5532120"/>
            <a:ext cx="6492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349240" y="5696712"/>
            <a:ext cx="457200" cy="457200"/>
          </a:xfrm>
          <a:prstGeom prst="ellipse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349240" y="5696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943600" y="5623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迫降前关断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7772400" y="56235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燃油 OFF / 主电源 OFF / 安全带收紧。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726680" y="5715000"/>
            <a:ext cx="0" cy="411480"/>
          </a:xfrm>
          <a:prstGeom prst="line">
            <a:avLst/>
          </a:prstGeom>
          <a:noFill/>
          <a:ln w="12700">
            <a:solidFill>
              <a:srgbClr val="D8E2E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航空智能体 AI · 项目汇报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关键技术栈与方法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70332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91640"/>
            <a:ext cx="3703320" cy="777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647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9842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知识建模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2651760"/>
            <a:ext cx="3337560" cy="960120"/>
          </a:xfrm>
          <a:prstGeom prst="rect">
            <a:avLst/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651760"/>
            <a:ext cx="54864" cy="960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743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LinkML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3108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 / 本体的 schema 定义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730752"/>
            <a:ext cx="3337560" cy="960120"/>
          </a:xfrm>
          <a:prstGeom prst="rect">
            <a:avLst/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730752"/>
            <a:ext cx="54864" cy="960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8221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OntoGPT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41879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从手册等自然语言抽取本体实例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809744"/>
            <a:ext cx="3337560" cy="960120"/>
          </a:xfrm>
          <a:prstGeom prst="rect">
            <a:avLst/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809744"/>
            <a:ext cx="54864" cy="960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90118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526694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对知识图谱进行约束校验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94860" y="1691640"/>
            <a:ext cx="370332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94860" y="1691640"/>
            <a:ext cx="3703320" cy="777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9180" y="17647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9180" y="19842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检索与推理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777740" y="2651760"/>
            <a:ext cx="3337560" cy="960120"/>
          </a:xfrm>
          <a:prstGeom prst="rect">
            <a:avLst/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7740" y="2651760"/>
            <a:ext cx="54864" cy="960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0620" y="2743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Hybrid-RAG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60620" y="3108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 + 向量检索联合召回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77740" y="3730752"/>
            <a:ext cx="3337560" cy="960120"/>
          </a:xfrm>
          <a:prstGeom prst="rect">
            <a:avLst/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77740" y="3730752"/>
            <a:ext cx="54864" cy="960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0620" y="38221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960620" y="41879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对手册做语义嵌入与相似检索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77740" y="4809744"/>
            <a:ext cx="3337560" cy="960120"/>
          </a:xfrm>
          <a:prstGeom prst="rect">
            <a:avLst/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77740" y="4809744"/>
            <a:ext cx="54864" cy="960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0620" y="490118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960620" y="526694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情境过滤优先关联当前飞行阶段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03920" y="1691640"/>
            <a:ext cx="370332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503920" y="1691640"/>
            <a:ext cx="3703320" cy="777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78240" y="17647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778240" y="19842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8686800" y="2651760"/>
            <a:ext cx="3337560" cy="960120"/>
          </a:xfrm>
          <a:prstGeom prst="rect">
            <a:avLst/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6800" y="2651760"/>
            <a:ext cx="54864" cy="960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0" y="2743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Planner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869680" y="3108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把任务拆成感知-检索-解释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686800" y="3730752"/>
            <a:ext cx="3337560" cy="960120"/>
          </a:xfrm>
          <a:prstGeom prst="rect">
            <a:avLst/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86800" y="3730752"/>
            <a:ext cx="54864" cy="960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69680" y="38221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869680" y="41879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KG 查询、向量检索等工具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686800" y="4809744"/>
            <a:ext cx="3337560" cy="960120"/>
          </a:xfrm>
          <a:prstGeom prst="rect">
            <a:avLst/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86800" y="4809744"/>
            <a:ext cx="54864" cy="960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69680" y="490118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869680" y="526694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拒答 / 降级 / 让飞行员复核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航空智能体 AI · 项目汇报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我的学习与研究议程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围绕项目所需的关键能力，正在按以下专题逐步深入。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本体基础与其与知识图谱的关系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514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类、属性、关系如何映射成 KG 中的节点与边。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920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2103120"/>
            <a:ext cx="502920" cy="50292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从自然语言构建知识图谱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78040" y="25146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用书籍、PDF 中的文本抽取实体与关系。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2461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429000"/>
            <a:ext cx="502920" cy="50292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中的幻觉与缓解策略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38404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为什么会胡编、如何用检索+约束抑制。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32461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3429000"/>
            <a:ext cx="502920" cy="50292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7804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与 Hybrid-RAG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78040" y="38404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结合知识图谱与向量检索，提升相关性与可解释性。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45720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754880"/>
            <a:ext cx="502920" cy="50292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08760" y="4709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中的检索环节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08760" y="51663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召回、重排、上下文压缩、引用回链。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55080" y="45720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4754880"/>
            <a:ext cx="502920" cy="50292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78040" y="4709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78040" y="51663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规划、工具使用、记忆，让模型完成多步任务。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航空智能体 AI · 项目汇报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未来工作：飞机与飞行情境的数字孪生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5120640" cy="475488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5120640" cy="7315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011680"/>
            <a:ext cx="777240" cy="777240"/>
          </a:xfrm>
          <a:prstGeom prst="ellipse">
            <a:avLst/>
          </a:prstGeom>
          <a:solidFill>
            <a:srgbClr val="205295"/>
          </a:solidFill>
          <a:ln w="12700">
            <a:solidFill>
              <a:srgbClr val="20529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185416"/>
            <a:ext cx="429768" cy="4297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7452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飞机与当下飞行情境的数字孪生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320040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把飞机的型号、参数、当前性能曲线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实时映射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成可计算的虚拟副本。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不再只在 “手册层面” 给建议，而能基于当前飞机能做什么、不能做什么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做更精准的判断。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89320" y="169164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89320" y="1691640"/>
            <a:ext cx="91440" cy="146304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18745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情境感知更准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263640" y="233172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能区分 “手册中的故障” 与 “这架飞机当前真实状态”。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319272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89320" y="3319272"/>
            <a:ext cx="91440" cy="146304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350215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推荐更个性化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263640" y="3959352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考虑机型、重量、油量、当前性能裕度，动态调整建议。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989320" y="4946904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89320" y="4946904"/>
            <a:ext cx="91440" cy="146304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3640" y="51297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支持事前推演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263640" y="5586984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起飞前可对飞行计划做风险与应急预案推演。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航空智能体 AI · 项目汇报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852160"/>
            <a:ext cx="420624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280160" y="5394960"/>
            <a:ext cx="365760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011680" y="4937760"/>
            <a:ext cx="310896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743200" y="4480560"/>
            <a:ext cx="256032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欢迎提问与讨论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685800" y="3931920"/>
            <a:ext cx="3703320" cy="1783080"/>
          </a:xfrm>
          <a:prstGeom prst="rect">
            <a:avLst/>
          </a:prstGeom>
          <a:solidFill>
            <a:srgbClr val="144272"/>
          </a:solidFill>
          <a:ln w="12700">
            <a:solidFill>
              <a:srgbClr val="1442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931920"/>
            <a:ext cx="3703320" cy="54864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114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项目定位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44805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私人飞行员的应急决策支持助手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3931920"/>
            <a:ext cx="3703320" cy="1783080"/>
          </a:xfrm>
          <a:prstGeom prst="rect">
            <a:avLst/>
          </a:prstGeom>
          <a:solidFill>
            <a:srgbClr val="144272"/>
          </a:solidFill>
          <a:ln w="12700">
            <a:solidFill>
              <a:srgbClr val="1442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3931920"/>
            <a:ext cx="3703320" cy="54864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4114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技术核心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44805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本体 + 知识图谱 + Hybrid-RAG + Agentic AI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75320" y="3931920"/>
            <a:ext cx="3703320" cy="1783080"/>
          </a:xfrm>
          <a:prstGeom prst="rect">
            <a:avLst/>
          </a:prstGeom>
          <a:solidFill>
            <a:srgbClr val="144272"/>
          </a:solidFill>
          <a:ln w="12700">
            <a:solidFill>
              <a:srgbClr val="1442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3931920"/>
            <a:ext cx="3703320" cy="54864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4114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近期重点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49640" y="44805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EFATO 案例下打通知识抽取到指引输出全链路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   ·   2026 年 4 月 28 日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航空智能体 AI 项目汇报</dc:title>
  <dc:subject>PptxGenJS Presentation</dc:subject>
  <dc:creator>xy</dc:creator>
  <cp:lastModifiedBy>xy</cp:lastModifiedBy>
  <cp:revision>1</cp:revision>
  <dcterms:created xsi:type="dcterms:W3CDTF">2026-04-28T08:35:42Z</dcterms:created>
  <dcterms:modified xsi:type="dcterms:W3CDTF">2026-04-28T08:35:42Z</dcterms:modified>
</cp:coreProperties>
</file>