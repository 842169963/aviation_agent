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822960"/>
            <a:ext cx="64008" cy="3474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772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Aviation Agentic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9C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Extraction &amp; Validation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73736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4A9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3291840"/>
            <a:ext cx="173736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4A9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29184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OntoGPT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3291840"/>
            <a:ext cx="173736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4A9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9184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SHACL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 |  Private Pilot Advisory System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&amp;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274320" y="11887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74320" y="1188720"/>
            <a:ext cx="42062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11480" y="118872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457200" y="1691640"/>
            <a:ext cx="38404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Aviation manuals are written in natural language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systems cannot directly reason over unstructured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is scattered across hundreds of pages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procedures must be retrieved instantly &amp; correctly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937760" y="11887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937760" y="1188720"/>
            <a:ext cx="4206240" cy="411480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5074920" y="118872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Goal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5120640" y="1691640"/>
            <a:ext cx="38404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 static manuals into structured knowledge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validated, queryable knowledge graph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grounded, hallucination-resistant AI advisory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pilots with reliable step-by-step guidance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Three-Tool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9C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tool plays a distinct, non-overlapping role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32004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554480"/>
            <a:ext cx="640080" cy="6400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54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9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LinkML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&amp; structure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the target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35808" y="3017520"/>
            <a:ext cx="22860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288036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A020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560320" cy="32004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54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9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331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69748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OntoGPT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LLM-based extraction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aviation 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70448" y="3017520"/>
            <a:ext cx="22860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288036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A020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560320" cy="32004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1554480"/>
            <a:ext cx="640080" cy="6400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1554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9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69748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SHACL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33375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 constraint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checking &amp; QA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Aviation Text  →  Structured Schema  →  Extracted Knowledge  →  Validated Graph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LinkML — Define the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Blueprint before extraction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438912" y="12344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LinkML?</a:t>
            </a:r>
            <a:endParaRPr lang="en-US" sz="13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438912" y="158191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schema definition language for structured data. It specifies classes, fields, data types, and relationships — the blueprint for how knowledge should look.</a:t>
            </a:r>
            <a:endParaRPr lang="en-US" sz="12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475488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919472" y="12344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in this pipeline</a:t>
            </a:r>
            <a:endParaRPr lang="en-US" sz="13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919472" y="158191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LinkML defines the target structure before extraction happens. OntoGPT uses this schema to know what to look for and how to organize its output.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38912" y="315468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constructs defined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438912" y="350215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 (e.g. Procedure, ChecklistStep), required/optional fields, value types, cardinality constraints, and inter-class relationships.</a:t>
            </a:r>
            <a:endParaRPr lang="en-US" sz="12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4754880" y="3063240"/>
            <a:ext cx="64008" cy="1737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919472" y="315468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4919472" y="350215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a schema, extracted knowledge is unorganized and inconsistent. LinkML ensures all extracted data follows a consistent, reusable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LinkML — Aviation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definition for Engine Failure After Takeoff (EFATO)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572000" cy="3749040"/>
          </a:xfrm>
          <a:prstGeom prst="rect">
            <a:avLst/>
          </a:prstGeom>
          <a:solidFill>
            <a:srgbClr val="161C2D"/>
          </a:solidFill>
          <a:ln w="12700">
            <a:solidFill>
              <a:srgbClr val="2A3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linkml_schema.yaml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457200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08760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EmergencyProcedure: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98424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name: string        # required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trigger_condition: string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245973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steps: ProcedureStep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697480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multivalued: true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935224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warnings: Warning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" y="317296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3410712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ProcedureStep: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364845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step_number: integer # required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3886200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action: string       # required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1097280"/>
            <a:ext cx="3794760" cy="11430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2080" y="118872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Class: EmergencyProcedure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481328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Represents one emergency scenario, e.g. Engine Failure After Takeoff (EFATO). Central object in the aviation knowledge graph.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2377440"/>
            <a:ext cx="3794760" cy="11430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12080" y="246888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Class: ProcedureStep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761488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step in the checklist — ordered actions the pilot must take. Required fields ensure no step is incomplete.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3657600"/>
            <a:ext cx="3794760" cy="118872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12080" y="374904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schema-first?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4041648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OntoGPT needs to know WHAT to extract. Without this blueprint, extraction results are inconsistent across different manuals.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OntoGPT — Extract Knowledge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From unstructured text to structured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438912" y="12344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OntoGPT?</a:t>
            </a:r>
            <a:endParaRPr lang="en-US" sz="13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438912" y="158191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LLM-based extraction tool that reads unstructured text and produces structured output aligned with a given schema (e.g. LinkML schema).</a:t>
            </a:r>
            <a:endParaRPr lang="en-US" sz="12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475488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919472" y="12344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in this pipeline</a:t>
            </a:r>
            <a:endParaRPr lang="en-US" sz="13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919472" y="158191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Takes aviation manuals, handbooks, and checklists as input. Outputs structured knowledge instances that populate the knowledge graph.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38912" y="315468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extracts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438912" y="350215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procedures, component states, failure conditions, pilot actions, warnings, and step-by-step checklists — all mapped to ontology classes.</a:t>
            </a:r>
            <a:endParaRPr lang="en-US" sz="12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4754880" y="3063240"/>
            <a:ext cx="64008" cy="1737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919472" y="315468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4919472" y="350215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knowledge structuring at scale is infeasible. OntoGPT automates extraction while remaining grounded in the actual source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OntoGPT — Aviation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POH text  →  structured extraction for EFATO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3931920" cy="3749040"/>
          </a:xfrm>
          <a:prstGeom prst="rect">
            <a:avLst/>
          </a:prstGeom>
          <a:solidFill>
            <a:srgbClr val="FFF8E8"/>
          </a:solidFill>
          <a:ln w="12700">
            <a:solidFill>
              <a:srgbClr val="D4A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393192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9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— POH Manual 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 Failure After Takeoff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engine failure occurs after takeoff and the aircraft is below 1,000 ft AGL, do not attempt to return to the runway.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Immediately lower the nose to maintain best glide speed of 65 KIAS.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a suitable landing area directly ahead.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fuel selector to OFF.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ignition to OFF.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Unfasten seatbelt after landing rollout.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WARNING: Attempting to return to runway below 1,000 ft AGL has caused numerous fatal accidents.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51960" y="256032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A7A5E"/>
                </a:solidFill>
              </a:rPr>
              <a:t>⟹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06240" y="3108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5E"/>
                </a:solidFill>
              </a:rPr>
              <a:t>OntoGPT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37760" y="1078992"/>
            <a:ext cx="3931920" cy="3749040"/>
          </a:xfrm>
          <a:prstGeom prst="rect">
            <a:avLst/>
          </a:prstGeom>
          <a:solidFill>
            <a:srgbClr val="161C2D"/>
          </a:solidFill>
          <a:ln w="12700">
            <a:solidFill>
              <a:srgbClr val="2A3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078992"/>
            <a:ext cx="3931920" cy="34747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7899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— Structured Extraction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508760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EmergencyProcedure: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773936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name: Engine Failure After Takeoff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039112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altLang="zh-CN" sz="1100" dirty="0">
                <a:solidFill>
                  <a:srgbClr val="8899B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trigger_condition</a:t>
            </a:r>
            <a:r>
              <a:rPr lang="en-US" sz="1100" dirty="0">
                <a:solidFill>
                  <a:srgbClr val="8899B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below 1000ft AGL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304288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steps: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569464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1: Lower nose → 65 KIAS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834640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2: Select landing area ahead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099816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3: Fuel selector OFF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364992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4: Ignition OFF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30168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warnings: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895344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 Return to runway below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160520"/>
            <a:ext cx="37033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1000ft AGL is FATAL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SHACL — Validate the 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Quality control before advisory use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438912" y="12344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SHACL?</a:t>
            </a:r>
            <a:endParaRPr lang="en-US" sz="13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438912" y="158191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Shapes Constraint Language — a W3C standard for validating RDF knowledge graphs against a set of rules and constraints.</a:t>
            </a:r>
            <a:endParaRPr lang="en-US" sz="12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475488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919472" y="12344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in this pipeline</a:t>
            </a:r>
            <a:endParaRPr lang="en-US" sz="13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919472" y="158191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OntoGPT populates the knowledge graph, SHACL checks every entry against defined constraints before any AI advisory query is made.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38912" y="315468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constraints checked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438912" y="350215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Procedure must have a name and ≥1 step. Each ChecklistStep must have an order number. Required fields cannot be empty. Relation types must be valid.</a:t>
            </a:r>
            <a:endParaRPr lang="en-US" sz="12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4754880" y="3063240"/>
            <a:ext cx="64008" cy="17373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919472" y="315468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 in aviation</a:t>
            </a:r>
            <a:endParaRPr lang="en-US" sz="13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4919472" y="3502152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Aviation is safety-critical. Incorrect or incomplete knowledge entries could produce wrong advice. SHACL acts as a guardrail.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SHACL — Aviation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CB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Validating extracted procedures before they reach the AI advisor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4023360" cy="2331720"/>
          </a:xfrm>
          <a:prstGeom prst="rect">
            <a:avLst/>
          </a:prstGeom>
          <a:solidFill>
            <a:srgbClr val="161C2D"/>
          </a:solidFill>
          <a:ln w="12700">
            <a:solidFill>
              <a:srgbClr val="2A3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023360" cy="34747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SHACL Shape Definition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49961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:ProcedureShape a sh:NodeShape 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719072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sh:targetClass :EmergencyProcedure 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93852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sh:property [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157984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sh:path :name 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37744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sh:minCount 1 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59689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sh:datatype xsd:string ] 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816352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sh:property [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03580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sh:path :steps 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255264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sh:minCount 1 ] 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1078992"/>
            <a:ext cx="4343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1078992"/>
            <a:ext cx="4343400" cy="34747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078992"/>
            <a:ext cx="4343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Constraints Enforced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508760"/>
            <a:ext cx="4069080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procedure MUST have a name (minCount 1)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procedure MUST have at least 1 step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step_number must be an integer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field cannot be empty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56616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Results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913632"/>
            <a:ext cx="4023360" cy="914400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95020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PASS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427939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EngineFailureAfterTakeoff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535424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F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✔   steps: 4 ✔   all fields valid 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3913632"/>
            <a:ext cx="4343400" cy="9144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395020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✘  FAIL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427939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94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UnstableApproach_partial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4535424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D7D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steps: 0 ✘  minCount violation → BLOCKED from AI advisor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14600" cy="1920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LinkML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Schema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14600" cy="192024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0972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OntoGPT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14600" cy="192024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0972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SHACL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Graph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841248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4A9C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2724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EFATO Example Trace: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3127248"/>
            <a:ext cx="6309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POH text  →  LinkML schema  →  OntoGPT extracts 4 steps + 1 warning  →  SHACL validates  →  AI advisor delivers guidance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1143000"/>
          </a:xfrm>
          <a:prstGeom prst="rect">
            <a:avLst/>
          </a:prstGeom>
          <a:solidFill>
            <a:srgbClr val="243A6E"/>
          </a:solidFill>
          <a:ln w="12700">
            <a:solidFill>
              <a:srgbClr val="4A9C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49040"/>
            <a:ext cx="64008" cy="1143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404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1605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Unstructured aviation manuals are transformed into a validated, structured knowledge graph through three complementary tools — enabling grounded, reliable AI advisory support for private pilots.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.8,&quot;left&quot;:21.6,&quot;top&quot;:93.6,&quot;width&quot;:698.4}"/>
</p:tagLst>
</file>

<file path=ppt/tags/tag2.xml><?xml version="1.0" encoding="utf-8"?>
<p:tagLst xmlns:p="http://schemas.openxmlformats.org/presentationml/2006/main">
  <p:tag name="KSO_WM_DIAGRAM_VIRTUALLY_FRAME" val="{&quot;height&quot;:280.8,&quot;left&quot;:21.6,&quot;top&quot;:93.6,&quot;width&quot;:698.4}"/>
</p:tagLst>
</file>

<file path=ppt/tags/tag3.xml><?xml version="1.0" encoding="utf-8"?>
<p:tagLst xmlns:p="http://schemas.openxmlformats.org/presentationml/2006/main">
  <p:tag name="KSO_WM_DIAGRAM_VIRTUALLY_FRAME" val="{&quot;height&quot;:280.8,&quot;left&quot;:21.6,&quot;top&quot;:93.6,&quot;width&quot;:698.4}"/>
</p:tagLst>
</file>

<file path=ppt/tags/tag4.xml><?xml version="1.0" encoding="utf-8"?>
<p:tagLst xmlns:p="http://schemas.openxmlformats.org/presentationml/2006/main">
  <p:tag name="KSO_WM_DIAGRAM_VIRTUALLY_FRAME" val="{&quot;height&quot;:280.8,&quot;left&quot;:21.6,&quot;top&quot;:93.6,&quot;width&quot;:698.4}"/>
</p:tagLst>
</file>

<file path=ppt/tags/tag5.xml><?xml version="1.0" encoding="utf-8"?>
<p:tagLst xmlns:p="http://schemas.openxmlformats.org/presentationml/2006/main">
  <p:tag name="KSO_WM_DIAGRAM_VIRTUALLY_FRAME" val="{&quot;height&quot;:280.8,&quot;left&quot;:21.6,&quot;top&quot;:93.6,&quot;width&quot;:698.4}"/>
</p:tagLst>
</file>

<file path=ppt/tags/tag6.xml><?xml version="1.0" encoding="utf-8"?>
<p:tagLst xmlns:p="http://schemas.openxmlformats.org/presentationml/2006/main">
  <p:tag name="KSO_WM_DIAGRAM_VIRTUALLY_FRAME" val="{&quot;height&quot;:280.8,&quot;left&quot;:21.6,&quot;top&quot;:93.6,&quot;width&quot;:698.4}"/>
</p:tagLst>
</file>

<file path=ppt/tags/tag7.xml><?xml version="1.0" encoding="utf-8"?>
<p:tagLst xmlns:p="http://schemas.openxmlformats.org/presentationml/2006/main">
  <p:tag name="KSO_WM_DIAGRAM_VIRTUALLY_FRAME" val="{&quot;height&quot;:280.8,&quot;left&quot;:21.6,&quot;top&quot;:93.6,&quot;width&quot;:698.4}"/>
</p:tagLst>
</file>

<file path=ppt/tags/tag8.xml><?xml version="1.0" encoding="utf-8"?>
<p:tagLst xmlns:p="http://schemas.openxmlformats.org/presentationml/2006/main">
  <p:tag name="KSO_WM_DIAGRAM_VIRTUALLY_FRAME" val="{&quot;height&quot;:280.8,&quot;left&quot;:21.6,&quot;top&quot;:93.6,&quot;width&quot;:698.4}"/>
</p:tagLst>
</file>

<file path=ppt/tags/tag9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0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1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2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3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4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5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6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7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8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19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0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1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2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3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4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5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6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7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8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29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0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1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2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3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4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5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6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7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8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39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40.xml><?xml version="1.0" encoding="utf-8"?>
<p:tagLst xmlns:p="http://schemas.openxmlformats.org/presentationml/2006/main">
  <p:tag name="KSO_WM_DIAGRAM_VIRTUALLY_FRAME" val="{&quot;height&quot;:288,&quot;left&quot;:21.6,&quot;top&quot;:90,&quot;width&quot;:676.8}"/>
</p:tagLst>
</file>

<file path=ppt/tags/tag41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42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43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44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45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46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47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48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49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50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51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52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53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54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55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ags/tag56.xml><?xml version="1.0" encoding="utf-8"?>
<p:tagLst xmlns:p="http://schemas.openxmlformats.org/presentationml/2006/main">
  <p:tag name="KSO_WM_DIAGRAM_VIRTUALLY_FRAME" val="{&quot;height&quot;:288,&quot;left&quot;:21.6,&quot;top&quot;:90,&quot;width&quot;:735.7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5657</Words>
  <Application>WPS 演示</Application>
  <PresentationFormat>On-screen Show (16:9)</PresentationFormat>
  <Paragraphs>289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Aviation Agentic AI</dc:title>
  <dc:creator>PptxGenJS</dc:creator>
  <dc:subject>PptxGenJS Presentation</dc:subject>
  <cp:lastModifiedBy>Stephen x</cp:lastModifiedBy>
  <cp:revision>2</cp:revision>
  <dcterms:created xsi:type="dcterms:W3CDTF">2026-04-14T09:57:00Z</dcterms:created>
  <dcterms:modified xsi:type="dcterms:W3CDTF">2026-04-14T13:07:11Z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8AC61B79AB9A44EDAE991DC0D4C92A85_12</vt:lpwstr>
  </property>
</Properties>
</file>