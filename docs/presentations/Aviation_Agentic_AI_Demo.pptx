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5486400"/>
            <a:ext cx="384048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7589520" y="4846320"/>
            <a:ext cx="329184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8321040" y="4206240"/>
            <a:ext cx="274320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052560" y="3566160"/>
            <a:ext cx="219456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784080" y="2926080"/>
            <a:ext cx="164592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868680" cy="868680"/>
          </a:xfrm>
          <a:prstGeom prst="ellipse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5087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 AGENTIC  AI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6060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  ·  From FAA Manual to Pilot Advisory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22960" y="4434840"/>
            <a:ext cx="54864" cy="91440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4434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LinkML schema  ·  OntoGPT-style extraction  ·  SHACL  ·  Hybrid-RAG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backed by 18 real procedures extracted from the FAA AFH.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xy   ·   April 28,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pipeline that turns FAA Airplane Flying Handbook (Ch.18) text into a validated knowledge graph and a Hybrid-RAG advisor.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697480" cy="1920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269748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procedures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as instances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965960"/>
            <a:ext cx="2697480" cy="1920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965960"/>
            <a:ext cx="269748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70332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steps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provenance excerpts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965960"/>
            <a:ext cx="2697480" cy="1920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1965960"/>
            <a:ext cx="269748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53796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warnings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procedures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89720" y="1965960"/>
            <a:ext cx="2697480" cy="1920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89720" y="1965960"/>
            <a:ext cx="269748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937260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Hybrid-RAG eval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72600" y="3474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cases passing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16052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160520"/>
            <a:ext cx="73152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3251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697480" y="43251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LinkML  →  emergency_schema.yaml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416052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4160520"/>
            <a:ext cx="73152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432511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0" y="432511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(OpenAI / Gemini) + schema-as-prompt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" y="52120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" y="5212080"/>
            <a:ext cx="73152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3766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+ SHACL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697480" y="53766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rdflib  +  pyshacl  →  output/kg.ttl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52120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5212080"/>
            <a:ext cx="73152" cy="9601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53766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Hybrid-RAG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12480" y="53766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  +  KG keyword merge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(scripts/00 → 07)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554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83080"/>
            <a:ext cx="155448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00_pdf_parse.py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1371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 Ch.18 PDF  →  per-procedure .txt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9132" y="2075688"/>
            <a:ext cx="146304" cy="14630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304288" y="1783080"/>
            <a:ext cx="1554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304288" y="1783080"/>
            <a:ext cx="155448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04288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395728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395728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01_extract.py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395728" y="3566160"/>
            <a:ext cx="1371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 JSON instances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075688"/>
            <a:ext cx="146304" cy="14630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922776" y="1783080"/>
            <a:ext cx="1554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922776" y="1783080"/>
            <a:ext cx="155448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922776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4014216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(SHACL)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014216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02_validate.py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014216" y="3566160"/>
            <a:ext cx="1371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 →  RDF (kg.ttl)  +  pyshacl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108" y="2075688"/>
            <a:ext cx="146304" cy="146304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541264" y="1783080"/>
            <a:ext cx="1554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541264" y="1783080"/>
            <a:ext cx="155448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541264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5632704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query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5632704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03_query.py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5632704" y="3566160"/>
            <a:ext cx="1371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SPARQL/triples query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596" y="2075688"/>
            <a:ext cx="146304" cy="146304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159752" y="1783080"/>
            <a:ext cx="1554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159752" y="1783080"/>
            <a:ext cx="155448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159752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6" name="Text 30"/>
          <p:cNvSpPr/>
          <p:nvPr/>
        </p:nvSpPr>
        <p:spPr>
          <a:xfrm>
            <a:off x="7251192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251192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05_build_vector_index.py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7251192" y="3566160"/>
            <a:ext cx="1371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embeddings  →  ChromaDB</a:t>
            </a:r>
            <a:endParaRPr lang="en-US" sz="110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4" y="2075688"/>
            <a:ext cx="146304" cy="146304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8778240" y="1783080"/>
            <a:ext cx="1554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778240" y="1783080"/>
            <a:ext cx="155448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8778240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43" name="Text 36"/>
          <p:cNvSpPr/>
          <p:nvPr/>
        </p:nvSpPr>
        <p:spPr>
          <a:xfrm>
            <a:off x="8869680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query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8869680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06_hybrid_query.py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8869680" y="3566160"/>
            <a:ext cx="1371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keyword + vector merge</a:t>
            </a:r>
            <a:endParaRPr lang="en-US" sz="11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1572" y="2075688"/>
            <a:ext cx="146304" cy="146304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10396728" y="1783080"/>
            <a:ext cx="15544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10396728" y="1783080"/>
            <a:ext cx="155448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0396728" y="1783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50" name="Text 42"/>
          <p:cNvSpPr/>
          <p:nvPr/>
        </p:nvSpPr>
        <p:spPr>
          <a:xfrm>
            <a:off x="10488168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</a:t>
            </a:r>
            <a:endParaRPr lang="en-US" sz="1300" dirty="0"/>
          </a:p>
        </p:txBody>
      </p:sp>
      <p:sp>
        <p:nvSpPr>
          <p:cNvPr id="51" name="Text 43"/>
          <p:cNvSpPr/>
          <p:nvPr/>
        </p:nvSpPr>
        <p:spPr>
          <a:xfrm>
            <a:off x="10488168" y="3154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07_eval_hybrid_rag.py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10488168" y="3566160"/>
            <a:ext cx="1371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test cases · happy / variant / OOS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685800" y="5669280"/>
            <a:ext cx="11018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685800" y="5669280"/>
            <a:ext cx="73152" cy="77724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914400" y="56692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demo focuses on stages 01, 02, 06, 07 — the parts where instances are generated, validated, retrieved, and tested.</a:t>
            </a:r>
            <a:endParaRPr lang="en-US" sz="1300" dirty="0"/>
          </a:p>
        </p:txBody>
      </p:sp>
      <p:sp>
        <p:nvSpPr>
          <p:cNvPr id="56" name="Shape 48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LinkML schema  defines the instance shape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YAML is the contract every extracted instance must satisfy. The same file is fed to the LLM as a prompt, and to SHACL as the source of truth.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schema/emergency_schema.yaml  (excerpt)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7680960" cy="461772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874520"/>
            <a:ext cx="7680960" cy="36576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39112"/>
            <a:ext cx="7315200" cy="428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https://example.org/aviation/emergency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AviationEmergencySchema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classes: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EmergencyProcedure: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attributes: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name:              { required: true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trigger_condition: { range: string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aircraft_phase:    { range: string }   </a:t>
            </a:r>
            <a:pPr indent="0" marL="0">
              <a:buNone/>
            </a:pPr>
            <a:r>
              <a:rPr lang="en-US" sz="1100" dirty="0">
                <a:solidFill>
                  <a:srgbClr val="7FA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takeoff / cruise / landing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source_file:       { required: true }   </a:t>
            </a:r>
            <a:pPr indent="0" marL="0">
              <a:buNone/>
            </a:pPr>
            <a:r>
              <a:rPr lang="en-US" sz="1100" dirty="0">
                <a:solidFill>
                  <a:srgbClr val="7FA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provenance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source_excerpt:    { range: string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steps:             { range: ProcedureStep, multivalued: true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warnings:          { range: Warning,       multivalued: true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ProcedureStep: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attributes: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step_number:    { range: integer, required: true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step_type:      { range: StepType, required: true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action:         { required: true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source_excerpt: { required: true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StepType: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immediate_action, training_note, caution, background 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0" y="1874520"/>
            <a:ext cx="3108960" cy="461772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1874520"/>
            <a:ext cx="310896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schema?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23960" y="256032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contract for the whole pipeline: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guides the LLM during extraction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shapes the JSON we store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becomes RDF predicates in kg.ttl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enforced by SHACL at validation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field name changes, every stage updates from the same place — no silent drift.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LLM extraction is driven by the schema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scripts/01_extract.py reads the LinkML schema, builds a structured prompt, and asks the LLM for JSON that matches the contract.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scripts/01_extract.py  (key parts)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11018520" cy="461772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874520"/>
            <a:ext cx="11018520" cy="36576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39112"/>
            <a:ext cx="10652760" cy="428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yaml, json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SCHEMA_FILE =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"schema/emergency_schema.yaml"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INPUT_FILE  =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"data/efato_sample.txt"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OUTPUT_FILE =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"output/extracted.json"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load_schema_description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FA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the LinkML YAML into a description the LLM can follow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schema = yaml.safe_load(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(path))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  = 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"Target JSON structure (must match this schema):"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cls, body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"classes"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lines.append(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f"class {cls}:"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attr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(body[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"attributes"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{}).items():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lines.append(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  - {name} {'[required]' if attr.get('required') else ''}"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.join(lines)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    = OpenAI()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schema_doc = load_schema_description(SCHEMA_FILE)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raw_text   =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(INPUT_FILE).read()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client.chat.completions.create(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"gpt-4o-mini"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response_format={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"json_object"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 {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"system"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schema_doc},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{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raw_text  } 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json.dump(json.loads(resp.choices[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].message.content),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(OUTPUT_FILE,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indent=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 ·  output/extracted.json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extracted instance — EFATO (single-engine)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84048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384048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 FAA AFH Ch.18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12_engine_failure_after_takeoff_single_engine.txt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3520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an engine failure occurs during the initial climb, the pilot should lower the nose of the airplane and establish the proper glide attitude.”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Excerpts like this become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source_excerpt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step, so the advisor can always cite the exact line.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EFATO instance (truncated)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6949440" cy="466344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83080"/>
            <a:ext cx="6949440" cy="36576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947672"/>
            <a:ext cx="6583680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"Engine Failure After Takeoff (Single-Engine)"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"trigger_condition"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"Engine failure during the initial climb"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"aircraft_phase"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"takeoff"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"source_file"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"12_engine_failure_after_takeoff_single_engine.txt"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"steps"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"step_number"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"step_type"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"immediate_action"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"Lower the nose of the airplane"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"step_number"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"step_type"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"immediate_action"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a field directly ahead ..."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"step_number"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"step_type"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"immediate_action"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"Consider turning back if conditions allow"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"step_number"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"step_type"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"training_note"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"Practice turns in both directions ..."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"step_number"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"step_type"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"caution"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 NOT attempt a turn back unless ..."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"warnings"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"description"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"Turning back at low altitudes presents an unacceptable risk ..."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"description"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 the airplane strikes the ground during the turn, cartwheeling ..."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 ·  output/kg.ttl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JSON  →  RDF knowledge graph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scripts/02_validate.py converts each JSON instance into RDF triples using the av: namespace, then writes them as Turtle.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scripts/02_validate.py  →  RDF builder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5669280" cy="443484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011680"/>
            <a:ext cx="5669280" cy="36576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76272"/>
            <a:ext cx="530352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rdflib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Graph, Namespace, Literal, URIRef, BNode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rdflib.namespace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RDF, XSD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 = Namespace(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"https://example.org/aviation/"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 = Graph()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p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enumerate(extracted[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"procedures"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 = URIRef(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f"{AV}proc_{i}_{slug(p['name'])}"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g.add((proc, RDF.type, AV.EmergencyProcedure))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g.add((proc, AV.name,           Literal(p[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g.add((proc, AV.aircraft_phase, Literal(p.get(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"aircraft_phase"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"steps"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= BNode()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g.add((proc, AV.hasStep, node))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g.add((node, RDF.type,        AV.ProcedureStep))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g.add((node, AV.step_number,  Literal(step[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"step_number"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datatype=XSD.integer)))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g.add((node, AV.step_type,    Literal(step[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"step_type"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g.add((node, AV.action,       Literal(step[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g.serialize(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"output/kg.ttl"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format=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"turtle"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kg.ttl  (EFATO triples)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2011680"/>
            <a:ext cx="5212080" cy="443484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2011680"/>
            <a:ext cx="5212080" cy="36576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176272"/>
            <a:ext cx="484632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A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@prefix av:  &lt;https://example.org/aviation/&gt;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@prefix xsd: &lt;http://www.w3.org/2001/XMLSchema#&gt;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av:proc_1_engine_failure_after_takeoff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av:EmergencyProcedure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av:name         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"Engine Failure After Takeoff (Single-Engine)"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av:aircraft_phase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"takeoff"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av:trigger_condition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"Engine failure during initial climb"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av:hasStep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 av:ProcedureStep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av:step_number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av:step_type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"immediate_action"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av:action   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"Lower the nose of the airplane"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 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   a av:ProcedureStep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av:step_number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av:step_type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"caution"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av:action     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 not attempt a turn back ..."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 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SHACL keeps the graph honest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shape is enforced on every triple. Bad instances never reach the advisor — the run aborts with a report.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shacl/procedure_shapes.ttl  (excerpt)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7680960" cy="443484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011680"/>
            <a:ext cx="7680960" cy="36576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76272"/>
            <a:ext cx="731520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A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@prefix sh:  &lt;http://www.w3.org/ns/shacl#&gt;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@prefix av:  &lt;https://example.org/aviation/&gt;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av:ProcedureShape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sh:NodeShape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sh:targetClass av:EmergencyProcedure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sh:property [ sh:path av:name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sh:minCount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sh:maxCount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sh:datatype xsd:string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sh:minLength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sh:property [ sh:path av:hasStep ; sh:minCount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av:StepShape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 sh:NodeShape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sh:targetClass av:ProcedureStep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sh:property [ sh:path av:step_number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sh:datatype xsd:integer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sh:minInclusive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sh:property [ sh:path av:step_type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sh:in (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"immediate_action"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"training_note"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"caution" 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"background"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]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sh:property [ sh:path av:source_excerpt 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sh:minCount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sh:minLength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python:  pyshacl.validate(data_graph=g, shacl_graph=shapes)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0" y="2011680"/>
            <a:ext cx="3108960" cy="44348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0" y="2011680"/>
            <a:ext cx="310896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output/validation_report.txt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2697480"/>
            <a:ext cx="2194560" cy="2194560"/>
          </a:xfrm>
          <a:prstGeom prst="ellipse">
            <a:avLst/>
          </a:prstGeom>
          <a:solidFill>
            <a:srgbClr val="1F6F4E"/>
          </a:solidFill>
          <a:ln w="25400">
            <a:solidFill>
              <a:srgbClr val="FFB347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3246120"/>
            <a:ext cx="731520" cy="731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052560" y="4023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Conforms: True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23960" y="502920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procedures and 89 steps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every shape constraint.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FD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future LLM extraction misses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step_number or step_type, the build fails here — not in the cockpit.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 RAG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Hybrid retrieval: KG keywords + vectors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scripts/06_hybrid_query.py runs the same question through both lanes, then merges by score before reading steps from the validated KG.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scripts/06_hybrid_query.py  ·  merge_candidates()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6949440" cy="4434840"/>
          </a:xfrm>
          <a:prstGeom prst="rect">
            <a:avLst/>
          </a:prstGeom>
          <a:solidFill>
            <a:srgbClr val="0E1B2C"/>
          </a:solidFill>
          <a:ln w="12700">
            <a:solidFill>
              <a:srgbClr val="0E1B2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011680"/>
            <a:ext cx="6949440" cy="36576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76272"/>
            <a:ext cx="6583680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kg_retrieve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(question, records):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7FA1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token-overlap score against name / trigger / phase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hits = {}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rec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records.items():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= text_match_score(question, name)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 += text_match_score(question, rec[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"trigger"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score: hits[name] = {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"kg_score"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score, ...}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vector_retrieve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(question, n_results=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 = client.embeddings.create(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model=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"text-embedding-3-small"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input=question)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chroma.query(query_embeddings=[emb], n_results=n_results)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merge_candidates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(kg_hits, vector_hits, top_k):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merged = defaultdict(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58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h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kg_hits.items():     merged[name][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"kg_score"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   = h[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"kg_score"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h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vector_hits.items(): merged[name][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"vector_score"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= h[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"vector_score"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merged.values():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item[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item[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"kg_score"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+ item[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"vector_score"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sorted(merged.values(),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key=</a:t>
            </a:r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x: -x[</a:t>
            </a:r>
            <a:pPr indent="0" marL="0">
              <a:buNone/>
            </a:pPr>
            <a:r>
              <a:rPr lang="en-US" sz="1100" dirty="0">
                <a:solidFill>
                  <a:srgbClr val="8FE7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"final_score"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])[:top_k]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2011680"/>
            <a:ext cx="3886200" cy="44348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2011680"/>
            <a:ext cx="3886200" cy="7315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1214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2514600"/>
            <a:ext cx="3520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lane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paraphrases like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“engine quit during climb”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share no exact word with the procedure title.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lane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that exact terms in the manual (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EFATO, ditching, IMC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never get embedded out of reach.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and warnings are always read from the validated KG — the LLM only paraphrases.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Evaluation suite (07_eval_hybrid_rag.py)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hand-built test cases across happy paths, semantic variants, ambiguous, and out-of-scope queries.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920240"/>
          <a:ext cx="110185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920240"/>
                <a:gridCol w="3931920"/>
                <a:gridCol w="868680"/>
                <a:gridCol w="8686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6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happy_efato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happy_path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 Failure After Takeoff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happy_imc_semantic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happy_path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Inadvertent VFR into IMC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happy_cabin_smoke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happy_path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 Fire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happy_parachute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happy_path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Ballistic Parachute Deployment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synonym_landing_gear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semantic_variant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Gear Malfunction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synonym_split_flap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semantic_variant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Asymmetric Split Flap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cross_fire_smoke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 Fire (top of 3 fires)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6F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unrelated_restaurant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out_of_scope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Autoland (abstain)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8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5577840"/>
            <a:ext cx="5486400" cy="86868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5577840"/>
            <a:ext cx="73152" cy="86868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55778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pass:  </a:t>
            </a:r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Flagged cases: </a:t>
            </a:r>
            <a:pPr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55080" y="5577840"/>
            <a:ext cx="5349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5577840"/>
            <a:ext cx="73152" cy="86868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55778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 queries still return a top candidate. Next iteration adds an abstention gate (distance ≥ 0.62 ∧ score &lt; 3).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 — query trace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11018520" cy="77724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73152" cy="77724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scripts/06_hybrid_query.py --question </a:t>
            </a:r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engine quit just after takeoff, what do I do"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514600"/>
            <a:ext cx="3703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514600"/>
            <a:ext cx="3703320" cy="50292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Hybrid retrieval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top-1: Engine Failure After Takeoff (Single-Engine)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dist:  0.3075     (low ⇒ confident match)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kg keywords:  engine, takeoff   ⇒  kg_score = 12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vector_score = 3   →   final_score = 15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514600"/>
            <a:ext cx="3703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514600"/>
            <a:ext cx="3703320" cy="50292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steps from kg.ttl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20040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steps, 2 warnings retrieved by SPARQL on av:hasStep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training_note + caution kept separate from operational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step carries source_excerpt + source_file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75320" y="2514600"/>
            <a:ext cx="3703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514600"/>
            <a:ext cx="370332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Grounded advisory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32461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Lower the nose; establish best glide attitude.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Pick a field directly ahead or slightly to one side.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Only consider a turn back if you are sure you can reach it.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Turning back at low altitude is high risk for low-time pilots.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AFH Ch.18 §“Engine Failure After Takeoff (Single-Engine)”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91440" cy="50292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8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8580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plan to ship next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83080"/>
            <a:ext cx="73152" cy="219456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14884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32257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11680" y="2148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gate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11680" y="265176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answer when distance ≥ 0.62 ∧ score &lt; 3 (the out-of-scope cases that still leak a top-1 today).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7830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55080" y="1783080"/>
            <a:ext cx="73152" cy="219456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0840" y="214884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76" y="2322576"/>
            <a:ext cx="429768" cy="4297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80960" y="2148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more procedures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680960" y="265176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extraction over the rest of AFH Ch.18 + Ch.16; target 40–60 procedures with the same schema.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416052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85800" y="4160520"/>
            <a:ext cx="73152" cy="219456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51560" y="452628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4700016"/>
            <a:ext cx="429768" cy="4297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11680" y="4526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2011680" y="50292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retrieval + advisory in a planner that also asks for missing context (phase, altitude, engine status).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355080" y="416052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355080" y="4160520"/>
            <a:ext cx="73152" cy="2194560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20840" y="4526280"/>
            <a:ext cx="777240" cy="777240"/>
          </a:xfrm>
          <a:prstGeom prst="ellipse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4700016"/>
            <a:ext cx="429768" cy="4297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680960" y="4526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Digital-twin context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680960" y="50292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live aircraft state so the advisor can reason about what THIS aircraft can still do, not just the manual.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0" y="6675120"/>
            <a:ext cx="12161520" cy="36576"/>
          </a:xfrm>
          <a:prstGeom prst="rect">
            <a:avLst/>
          </a:prstGeom>
          <a:solidFill>
            <a:srgbClr val="D8E2EC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Agentic AI  ·  Prototype Demo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972800" y="65653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852160"/>
            <a:ext cx="420624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280160" y="5394960"/>
            <a:ext cx="365760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011680" y="4937760"/>
            <a:ext cx="310896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43200" y="4480560"/>
            <a:ext cx="2560320" cy="0"/>
          </a:xfrm>
          <a:prstGeom prst="line">
            <a:avLst/>
          </a:prstGeom>
          <a:noFill/>
          <a:ln w="12700">
            <a:solidFill>
              <a:srgbClr val="20529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 YOU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&amp;  Discussion</a:t>
            </a:r>
            <a:endParaRPr lang="en-US" sz="5000" dirty="0"/>
          </a:p>
        </p:txBody>
      </p:sp>
      <p:sp>
        <p:nvSpPr>
          <p:cNvPr id="9" name="Shape 7"/>
          <p:cNvSpPr/>
          <p:nvPr/>
        </p:nvSpPr>
        <p:spPr>
          <a:xfrm>
            <a:off x="685800" y="3931920"/>
            <a:ext cx="3703320" cy="1783080"/>
          </a:xfrm>
          <a:prstGeom prst="rect">
            <a:avLst/>
          </a:prstGeom>
          <a:solidFill>
            <a:srgbClr val="144272"/>
          </a:solidFill>
          <a:ln w="12700">
            <a:solidFill>
              <a:srgbClr val="1442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931920"/>
            <a:ext cx="3703320" cy="54864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114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4805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aviation_prototype/  ·  scripts 00 → 07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3931920"/>
            <a:ext cx="3703320" cy="1783080"/>
          </a:xfrm>
          <a:prstGeom prst="rect">
            <a:avLst/>
          </a:prstGeom>
          <a:solidFill>
            <a:srgbClr val="144272"/>
          </a:solidFill>
          <a:ln w="12700">
            <a:solidFill>
              <a:srgbClr val="1442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3931920"/>
            <a:ext cx="3703320" cy="54864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114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entry point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44805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scripts/06_hybrid_query.py --question "..."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75320" y="3931920"/>
            <a:ext cx="3703320" cy="1783080"/>
          </a:xfrm>
          <a:prstGeom prst="rect">
            <a:avLst/>
          </a:prstGeom>
          <a:solidFill>
            <a:srgbClr val="144272"/>
          </a:solidFill>
          <a:ln w="12700">
            <a:solidFill>
              <a:srgbClr val="1442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3931920"/>
            <a:ext cx="3703320" cy="54864"/>
          </a:xfrm>
          <a:prstGeom prst="rect">
            <a:avLst/>
          </a:prstGeom>
          <a:solidFill>
            <a:srgbClr val="F58300"/>
          </a:solidFill>
          <a:ln w="12700">
            <a:solidFill>
              <a:srgbClr val="F583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41148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headline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49640" y="44805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procedures · SHACL ✓ · Hybrid-RAG 14/14 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  ·   April 28,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Aviation Agentic AI — Prototype Demo</dc:title>
  <dc:subject>PptxGenJS Presentation</dc:subject>
  <dc:creator>xy</dc:creator>
  <cp:lastModifiedBy>xy</cp:lastModifiedBy>
  <cp:revision>1</cp:revision>
  <dcterms:created xsi:type="dcterms:W3CDTF">2026-04-28T10:09:22Z</dcterms:created>
  <dcterms:modified xsi:type="dcterms:W3CDTF">2026-04-28T10:09:22Z</dcterms:modified>
</cp:coreProperties>
</file>